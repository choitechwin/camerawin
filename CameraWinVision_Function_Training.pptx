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f93341f9f44beb" /><Relationship Type="http://schemas.openxmlformats.org/officeDocument/2006/relationships/extended-properties" Target="/docProps/app.xml" Id="R80556b873c794c05" /><Relationship Type="http://schemas.openxmlformats.org/officeDocument/2006/relationships/officeDocument" Target="/ppt/presentation.xml" Id="R37fef98b50104d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3ddbba111844bc"/>
  </p:sldMasterIdLst>
  <p:notesMasterIdLst>
    <p:notesMasterId xmlns:r="http://schemas.openxmlformats.org/officeDocument/2006/relationships" r:id="R57baabb3d58a49ad"/>
  </p:notesMasterIdLst>
  <p:sldIdLst>
    <p:sldId xmlns:r="http://schemas.openxmlformats.org/officeDocument/2006/relationships" id="256" r:id="R8fdf0d42f6804247"/>
    <p:sldId xmlns:r="http://schemas.openxmlformats.org/officeDocument/2006/relationships" id="257" r:id="Ra64dcaeb05394607"/>
    <p:sldId xmlns:r="http://schemas.openxmlformats.org/officeDocument/2006/relationships" id="258" r:id="Rb1958591d3b54c5f"/>
    <p:sldId xmlns:r="http://schemas.openxmlformats.org/officeDocument/2006/relationships" id="259" r:id="R7d48acc944d94891"/>
    <p:sldId xmlns:r="http://schemas.openxmlformats.org/officeDocument/2006/relationships" id="260" r:id="Re15dee6d240d4697"/>
    <p:sldId xmlns:r="http://schemas.openxmlformats.org/officeDocument/2006/relationships" id="261" r:id="Re44fcd3532bd4814"/>
    <p:sldId xmlns:r="http://schemas.openxmlformats.org/officeDocument/2006/relationships" id="262" r:id="R61cb3db1f158412a"/>
    <p:sldId xmlns:r="http://schemas.openxmlformats.org/officeDocument/2006/relationships" id="263" r:id="Rf967771d320e4ba2"/>
    <p:sldId xmlns:r="http://schemas.openxmlformats.org/officeDocument/2006/relationships" id="264" r:id="R1669d39c9e594f4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3ddbba111844bc" /><Relationship Type="http://schemas.openxmlformats.org/officeDocument/2006/relationships/theme" Target="/ppt/theme/theme1.xml" Id="Rbd493273e4004e3a" /><Relationship Type="http://schemas.openxmlformats.org/officeDocument/2006/relationships/notesMaster" Target="/ppt/notesMasters/notesMaster1.xml" Id="R57baabb3d58a49ad" /><Relationship Type="http://schemas.openxmlformats.org/officeDocument/2006/relationships/presProps" Target="/ppt/presProps.xml" Id="R186b18b9a02f422c" /><Relationship Type="http://schemas.openxmlformats.org/officeDocument/2006/relationships/viewProps" Target="/ppt/viewProps.xml" Id="Ree73723af1be4f9b" /><Relationship Type="http://schemas.openxmlformats.org/officeDocument/2006/relationships/tableStyles" Target="/ppt/tableStyles.xml" Id="R1a0aef76092147a3" /><Relationship Type="http://schemas.openxmlformats.org/officeDocument/2006/relationships/slide" Target="/ppt/slides/slide1.xml" Id="R8fdf0d42f6804247" /><Relationship Type="http://schemas.openxmlformats.org/officeDocument/2006/relationships/slide" Target="/ppt/slides/slide2.xml" Id="Ra64dcaeb05394607" /><Relationship Type="http://schemas.openxmlformats.org/officeDocument/2006/relationships/slide" Target="/ppt/slides/slide3.xml" Id="Rb1958591d3b54c5f" /><Relationship Type="http://schemas.openxmlformats.org/officeDocument/2006/relationships/slide" Target="/ppt/slides/slide4.xml" Id="R7d48acc944d94891" /><Relationship Type="http://schemas.openxmlformats.org/officeDocument/2006/relationships/slide" Target="/ppt/slides/slide5.xml" Id="Re15dee6d240d4697" /><Relationship Type="http://schemas.openxmlformats.org/officeDocument/2006/relationships/slide" Target="/ppt/slides/slide6.xml" Id="Re44fcd3532bd4814" /><Relationship Type="http://schemas.openxmlformats.org/officeDocument/2006/relationships/slide" Target="/ppt/slides/slide7.xml" Id="R61cb3db1f158412a" /><Relationship Type="http://schemas.openxmlformats.org/officeDocument/2006/relationships/slide" Target="/ppt/slides/slide8.xml" Id="Rf967771d320e4ba2" /><Relationship Type="http://schemas.openxmlformats.org/officeDocument/2006/relationships/slide" Target="/ppt/slides/slide9.xml" Id="R1669d39c9e594f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75a1d7aa14146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85f2b22ad24087" /><Relationship Type="http://schemas.openxmlformats.org/officeDocument/2006/relationships/notesMaster" Target="/ppt/notesMasters/notesMaster1.xml" Id="R08cf12c52cf340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bc99fa2d474825" /><Relationship Type="http://schemas.openxmlformats.org/officeDocument/2006/relationships/notesMaster" Target="/ppt/notesMasters/notesMaster1.xml" Id="R2be0ee86acfb44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377af5e0e44ce8" /><Relationship Type="http://schemas.openxmlformats.org/officeDocument/2006/relationships/notesMaster" Target="/ppt/notesMasters/notesMaster1.xml" Id="Rc266a204e76a40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a5d603f7d44f91" /><Relationship Type="http://schemas.openxmlformats.org/officeDocument/2006/relationships/notesMaster" Target="/ppt/notesMasters/notesMaster1.xml" Id="R81b0daa8293b46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2166e69cab4b89" /><Relationship Type="http://schemas.openxmlformats.org/officeDocument/2006/relationships/notesMaster" Target="/ppt/notesMasters/notesMaster1.xml" Id="R34c705a4bd3042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61b7971cc4456c" /><Relationship Type="http://schemas.openxmlformats.org/officeDocument/2006/relationships/notesMaster" Target="/ppt/notesMasters/notesMaster1.xml" Id="R7513b72e5def47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a9fee9cd7540ab" /><Relationship Type="http://schemas.openxmlformats.org/officeDocument/2006/relationships/notesMaster" Target="/ppt/notesMasters/notesMaster1.xml" Id="R184ac008013d49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813e2779d94c33" /><Relationship Type="http://schemas.openxmlformats.org/officeDocument/2006/relationships/notesMaster" Target="/ppt/notesMasters/notesMaster1.xml" Id="Rc57b34fcab494c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c6169ad64348dd" /><Relationship Type="http://schemas.openxmlformats.org/officeDocument/2006/relationships/notesMaster" Target="/ppt/notesMasters/notesMaster1.xml" Id="R9816b7039d0343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5a34b3d7c54d2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dffd3a5100a43a2" /><Relationship Type="http://schemas.openxmlformats.org/officeDocument/2006/relationships/slideLayout" Target="/ppt/slideLayouts/slideLayout2.xml" Id="Rcd709753fbaa4f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709753fbaa4f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b627530e034273" /><Relationship Type="http://schemas.openxmlformats.org/officeDocument/2006/relationships/notesSlide" Target="/ppt/notesSlides/notesSlide1.xml" Id="R04b232df13e040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5e7a6a5e47442e" /><Relationship Type="http://schemas.openxmlformats.org/officeDocument/2006/relationships/notesSlide" Target="/ppt/notesSlides/notesSlide2.xml" Id="R693352c6800a4f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5e3abd6ec14e16" /><Relationship Type="http://schemas.openxmlformats.org/officeDocument/2006/relationships/notesSlide" Target="/ppt/notesSlides/notesSlide3.xml" Id="Rbd42d842234746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4a209c4e8d4da5" /><Relationship Type="http://schemas.openxmlformats.org/officeDocument/2006/relationships/notesSlide" Target="/ppt/notesSlides/notesSlide4.xml" Id="R3348bb2c7ee14a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9bd4b92e344568" /><Relationship Type="http://schemas.openxmlformats.org/officeDocument/2006/relationships/notesSlide" Target="/ppt/notesSlides/notesSlide5.xml" Id="R0e6b8d78af3347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3f434660354fd4" /><Relationship Type="http://schemas.openxmlformats.org/officeDocument/2006/relationships/notesSlide" Target="/ppt/notesSlides/notesSlide6.xml" Id="R011f85f5ddae40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eb06c6c0414bfc" /><Relationship Type="http://schemas.openxmlformats.org/officeDocument/2006/relationships/notesSlide" Target="/ppt/notesSlides/notesSlide7.xml" Id="R32f27170caf444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943412a77b437b" /><Relationship Type="http://schemas.openxmlformats.org/officeDocument/2006/relationships/notesSlide" Target="/ppt/notesSlides/notesSlide8.xml" Id="R30bbc29185a643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6a4e8da13b4ea6" /><Relationship Type="http://schemas.openxmlformats.org/officeDocument/2006/relationships/notesSlide" Target="/ppt/notesSlides/notesSlide9.xml" Id="R9ee25dfd86d641e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F5C3D2-08BD-49B0-8F4A-5976A876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77F36-8868-408B-B490-C1F1AB88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CameraWinVision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9CC22-C58F-42C1-8920-F61B62E4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C++ / OpenCV 카메라 모니터링 소스코드 함수 단위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AEAC7-6211-4833-BF96-93BB46EC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143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98C21-C7C3-4DB8-B36C-44B51EC3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6101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314050"/>
            </a:solidFill>
            <a:prstDash val="solid"/>
          </a:ln>
        </p:spPr>
        <p:txBody>
          <a:bodyPr xmlns:a="http://schemas.openxmlformats.org/drawingml/2006/main" lIns="133350" tIns="95250" rIns="133350" bIns="952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#include &lt;opencv2/opencv.hpp&gt;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struct AppConfig</a:t>
            </a:r>
          </a:p>
          <a:p xmlns:a="http://schemas.openxmlformats.org/drawingml/2006/main">
            <a:pPr algn="l">
              <a:defRPr sz="1575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makeStatusText()</a:t>
            </a:r>
          </a:p>
          <a:p xmlns:a="http://schemas.openxmlformats.org/drawingml/2006/main">
            <a:pPr algn="l">
              <a:defRPr sz="1575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drawLabel()</a:t>
            </a:r>
          </a:p>
          <a:p xmlns:a="http://schemas.openxmlformats.org/drawingml/2006/main">
            <a:pPr algn="l">
              <a:defRPr sz="1575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updateMotionMask()</a:t>
            </a:r>
          </a:p>
          <a:p xmlns:a="http://schemas.openxmlformats.org/drawingml/2006/main">
            <a:pPr algn="l">
              <a:defRPr sz="1575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drawMotionOverlay()</a:t>
            </a:r>
          </a:p>
          <a:p xmlns:a="http://schemas.openxmlformats.org/drawingml/2006/main">
            <a:pPr algn="l">
              <a:defRPr sz="1575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openCamera()</a:t>
            </a:r>
          </a:p>
          <a:p xmlns:a="http://schemas.openxmlformats.org/drawingml/2006/main">
            <a:pPr algn="l">
              <a:defRPr sz="1575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main()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C961D-8B22-406F-B0F2-02F85B6C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47900"/>
            <a:ext cx="4476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7F5C0-4767-4177-A768-1F92A4A5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479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0F169-6A82-4B76-A738-E28AF5E0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1935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7F7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B7F79"/>
                </a:solidFill>
                <a:latin typeface="Aptos"/>
                <a:ea typeface="Aptos"/>
                <a:cs typeface="Aptos"/>
              </a:rPr>
              <a:t>교육 목표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46059-F497-4831-AC8A-4E06CFEA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24150"/>
            <a:ext cx="4133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카메라 입력부터 화면 출력, 움직임 감지, 디버깅 지점까지 함수별 책임을 분리해서 이해합니다.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401E1-C6AB-47C4-88F3-5EE290BD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4476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7E9E1-B4D3-4899-A5B3-30795B40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9443A-D8B2-4824-BA73-1374B593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10000"/>
            <a:ext cx="413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66A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66A2B"/>
                </a:solidFill>
                <a:latin typeface="Aptos"/>
                <a:ea typeface="Aptos"/>
                <a:cs typeface="Aptos"/>
              </a:rPr>
              <a:t>학습 순서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085A3-026A-47EF-A864-A9B6481A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14800"/>
            <a:ext cx="4133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데이터 구조 → 유틸리티 함수 → 영상 처리 함수 → 카메라 오픈 → 메인 루프 순서로 따라갑니다.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C10E89-FA31-4119-8CA7-DB827E44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919058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FC3E4E-B52C-406F-93C7-49339522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12788EF-4CED-4CFD-B9CF-F4F4B190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538293D-370F-454F-898C-5A5E020F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6A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66A2B"/>
                </a:solidFill>
                <a:latin typeface="Aptos"/>
                <a:ea typeface="Aptos"/>
                <a:cs typeface="Aptos"/>
              </a:rPr>
              <a:t>PROGRAM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5DD62-9CDD-4A53-8A98-CB267D29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전체 흐름은 작은 함수들이 main 루프를 받치는 구조입니다.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84D6B-2514-4CE9-AAFD-59060648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20555-481E-40C9-BA2C-1E3CD554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7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67D4A-B50A-4DFA-BDAA-3DE4B1E2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AppConfig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F305E-DA5F-4C20-AE21-53429702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3375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카메라 번호</a:t>
            </a:r>
          </a:p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해상도</a:t>
            </a:r>
          </a:p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감지 임계값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FEC48-CAF3-4E5A-AFF1-6E4ACB25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241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F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9D4B0-A5AD-436A-AF34-29A10DF7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67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AF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F45BFD-885E-4DCE-A515-D116B99E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812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D81F7-81E2-402F-A1A3-ADD9D93B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098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openCamera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9BCF4B-78DB-47E8-8F14-D76CBD73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33375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백엔드 순차 시도</a:t>
            </a:r>
          </a:p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속성 설정</a:t>
            </a:r>
          </a:p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성공 여부 반환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2661C-D525-467B-9E12-07F167DD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241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F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88C6F-B961-48B7-B96A-2F05E523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67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AF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67D6A2-EEE0-493D-8265-CCA2BB29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812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92D88-35C7-4987-946D-43E8B0EF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098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read frame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60E94E-8E3A-4206-88E7-AD8A5657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33375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프레임 수신</a:t>
            </a:r>
          </a:p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실패 카운트</a:t>
            </a:r>
          </a:p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첫 프레임 로그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70A81E-4B39-4A52-AED7-919E9563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241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F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3D55B9-32A6-4319-B624-380A6B59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67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AF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5CCC2B-A2C3-4A84-BBDB-2FE79A4B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812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410AC-D521-4B72-B8EE-5FCAEF60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098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72425D-443D-4E45-9B55-2B038905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33375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gray 변환</a:t>
            </a:r>
          </a:p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차분/이진화</a:t>
            </a:r>
          </a:p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contour 박스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73C431-DAEE-4004-8C63-6EEA6785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241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F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D5899D-00A7-442D-B043-76757DCA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67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8AF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EC7EA4-2B4E-4430-AE0B-4A7FA9B9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A92D8E-B5A6-4D48-958B-9ABBA1C7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display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C44153-5534-480D-ADFE-4747449E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3375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상태 텍스트</a:t>
            </a:r>
          </a:p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imshow</a:t>
            </a:r>
          </a:p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키 입력 처리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E735D1-A75D-4F6D-82A7-421CDC14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6DE0BD-3931-4A7E-A60B-82FCDB3C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7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DA2E4D-D613-460A-80E5-2387CA6D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24450"/>
            <a:ext cx="880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67A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67AC"/>
                </a:solidFill>
                <a:latin typeface="Aptos"/>
                <a:ea typeface="Aptos"/>
                <a:cs typeface="Aptos"/>
              </a:rPr>
              <a:t>핵심 관찰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2600F6-1C9C-40FA-8F48-1FCA21CA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29250"/>
            <a:ext cx="880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영상 프로그램은 한 번 실행하고 끝나는 코드가 아니라, 프레임 단위로 같은 처리를 반복하는 상태 머신처럼 읽으면 쉽습니다.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0FA210-12CF-4EBB-A461-F43BD8E4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207858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6A85BD-6751-45BF-AC19-18741074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837215B-55F9-4198-985C-1C332354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3BD66CC-E771-401B-9F37-7954E36B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6A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66A2B"/>
                </a:solidFill>
                <a:latin typeface="Aptos"/>
                <a:ea typeface="Aptos"/>
                <a:cs typeface="Aptos"/>
              </a:rPr>
              <a:t>CONFIGURATION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00456-1DE1-45C3-ABB3-56F3F9D7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AppConfig와 CameraBackend는 하드코딩을 한곳으로 모읍니다.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276CD-CFE3-4B01-A083-54E87204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ABED0-3F19-41B3-84D2-83714D26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4857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344250"/>
            </a:solidFill>
            <a:prstDash val="solid"/>
          </a:ln>
        </p:spPr>
        <p:txBody>
          <a:bodyPr xmlns:a="http://schemas.openxmlformats.org/drawingml/2006/main" lIns="133350" tIns="95250" rIns="133350" bIns="952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struct AppConfig {</a:t>
            </a:r>
          </a:p>
          <a:p xmlns:a="http://schemas.openxmlformats.org/drawingml/2006/main">
            <a:pPr algn="l">
              <a:defRPr sz="135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int cameraIndex = 0;</a:t>
            </a:r>
          </a:p>
          <a:p xmlns:a="http://schemas.openxmlformats.org/drawingml/2006/main">
            <a:pPr algn="l">
              <a:defRPr sz="135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int width = 1280;</a:t>
            </a:r>
          </a:p>
          <a:p xmlns:a="http://schemas.openxmlformats.org/drawingml/2006/main">
            <a:pPr algn="l">
              <a:defRPr sz="135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int height = 720;</a:t>
            </a:r>
          </a:p>
          <a:p xmlns:a="http://schemas.openxmlformats.org/drawingml/2006/main">
            <a:pPr algn="l">
              <a:defRPr sz="135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double motionThreshold = 0.018;</a:t>
            </a:r>
          </a:p>
          <a:p xmlns:a="http://schemas.openxmlformats.org/drawingml/2006/main">
            <a:pPr algn="l">
              <a:defRPr sz="135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struct CameraBackend {</a:t>
            </a:r>
          </a:p>
          <a:p xmlns:a="http://schemas.openxmlformats.org/drawingml/2006/main">
            <a:pPr algn="l">
              <a:defRPr sz="135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int api;</a:t>
            </a:r>
          </a:p>
          <a:p xmlns:a="http://schemas.openxmlformats.org/drawingml/2006/main">
            <a:pPr algn="l">
              <a:defRPr sz="135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const char* name;</a:t>
            </a:r>
          </a:p>
          <a:p xmlns:a="http://schemas.openxmlformats.org/drawingml/2006/main">
            <a:pPr algn="l">
              <a:defRPr sz="135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3A4C4-C80E-4DC4-B660-4EEED605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4400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A6E9E-BD78-4BBB-81C3-59A45913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DFFCC-03FD-411D-9D8A-0F12C597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405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7F7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B7F79"/>
                </a:solidFill>
                <a:latin typeface="Aptos"/>
                <a:ea typeface="Aptos"/>
                <a:cs typeface="Aptos"/>
              </a:rPr>
              <a:t>AppConfig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ED658-26EF-4381-A3E9-E9FF3A14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62200"/>
            <a:ext cx="4057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실행 시 바뀔 수 있는 값입니다. 카메라 번호는 argv[1]로 덮어쓸 수 있고, 해상도와 감지 민감도는 여기서 조정합니다.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874E91-5C15-4190-AA1F-42112E77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44005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A2C5D-FD26-4476-AD0F-B1FA113F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A9604-B512-41DB-8B1F-319526A1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00450"/>
            <a:ext cx="405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66A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66A2B"/>
                </a:solidFill>
                <a:latin typeface="Aptos"/>
                <a:ea typeface="Aptos"/>
                <a:cs typeface="Aptos"/>
              </a:rPr>
              <a:t>CameraBackend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1AC87-0330-4120-9FB5-C7A427A6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4057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DirectShow, Media Foundation, Auto 순서로 시도하기 위한 작은 데이터 구조입니다. Windows 카메라 호환성을 높입니다.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BF9FD-6969-480E-BC8E-E907099E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391150"/>
            <a:ext cx="7467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10B5AC-1980-4A41-818A-70105AD2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57825"/>
            <a:ext cx="7467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교육 포인트: magic number를 구조체로 모으면 튜닝 지점이 선명해집니다.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1D9B73-58DE-4FF1-8F8B-AD6A6DEC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159633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933B2E-4A2D-45FA-BA5F-0FCA4733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0E09BF6-E859-4B07-97F0-0BEE149F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F915DE9-DE08-42F2-93A3-6738AA02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6A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66A2B"/>
                </a:solidFill>
                <a:latin typeface="Aptos"/>
                <a:ea typeface="Aptos"/>
                <a:cs typeface="Aptos"/>
              </a:rPr>
              <a:t>TEXT OVERLAY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76694-D111-4CB2-ABBC-3F719E10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makeStatusText와 drawLabel은 화면 정보 표시를 담당합니다.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D925B-F3CA-483F-A627-34096575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7677C-B27F-4533-9277-744E5A47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5219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344250"/>
            </a:solidFill>
            <a:prstDash val="solid"/>
          </a:ln>
        </p:spPr>
        <p:txBody>
          <a:bodyPr xmlns:a="http://schemas.openxmlformats.org/drawingml/2006/main" lIns="133350" tIns="95250" rIns="133350" bIns="952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makeStatusText(fps, size, motionEnabled, motionRatio)</a:t>
            </a:r>
          </a:p>
          <a:p xmlns:a="http://schemas.openxmlformats.org/drawingml/2006/main">
            <a:pPr algn="l">
              <a:defRPr sz="135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→ 문자열 생성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drawLabel(frame, text, origin, scale, color)</a:t>
            </a:r>
          </a:p>
          <a:p xmlns:a="http://schemas.openxmlformats.org/drawingml/2006/main">
            <a:pPr algn="l">
              <a:defRPr sz="135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→ 배경 사각형 계산</a:t>
            </a:r>
          </a:p>
          <a:p xmlns:a="http://schemas.openxmlformats.org/drawingml/2006/main">
            <a:pPr algn="l">
              <a:defRPr sz="135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→ rectangle()</a:t>
            </a:r>
          </a:p>
          <a:p xmlns:a="http://schemas.openxmlformats.org/drawingml/2006/main">
            <a:pPr algn="l">
              <a:defRPr sz="135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→ putText()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5650D-4A34-4021-BC8C-ED7C7DC3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52650"/>
            <a:ext cx="3905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92A55-B7A6-4EB6-8252-E74AC584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52700"/>
            <a:ext cx="331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8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47625" rIns="95250" bIns="4762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FPS 29.7 | 1280x720 | motion on (2.45%)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8AE0A-86DB-4A5C-91D0-D7890113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004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8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47625" rIns="95250" bIns="47625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5A4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5A4F"/>
                </a:solidFill>
                <a:latin typeface="Aptos"/>
                <a:ea typeface="Aptos"/>
                <a:cs typeface="Aptos"/>
              </a:rPr>
              <a:t>MOTION DETECTED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566E5-DAE6-408E-9098-BCE00679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72050"/>
            <a:ext cx="868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D3041-EA5B-4D55-8AB7-94B40792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720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F5194-5C0F-4D11-A0F3-2A20C2EC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43500"/>
            <a:ext cx="834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7F7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B7F79"/>
                </a:solidFill>
                <a:latin typeface="Aptos"/>
                <a:ea typeface="Aptos"/>
                <a:cs typeface="Aptos"/>
              </a:rPr>
              <a:t>분리 이유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241609-12CC-47C3-80FB-E6EC23B8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48300"/>
            <a:ext cx="834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문자열 생성과 그리기 함수를 나누면 UI 문구를 바꿀 때 영상 처리 로직을 건드리지 않아도 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80460-57C4-4DD7-B723-802B68DB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743350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3179A7-54B8-41B2-8A8F-7E3570B6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6BCA6CF-789B-410E-8994-35084B76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EE6B305-415B-4A5F-AB46-22FF3426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6A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66A2B"/>
                </a:solidFill>
                <a:latin typeface="Aptos"/>
                <a:ea typeface="Aptos"/>
                <a:cs typeface="Aptos"/>
              </a:rPr>
              <a:t>MOTION MASK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F8EFC-22D2-46FC-B2A7-F5676C44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updateMotionMask는 이전 프레임과 현재 프레임의 차이를 숫자로 바꿉니다.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E90B4-D6BC-4423-98CD-C988A6D1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36227-0885-4D17-BF40-A6EDBA5E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647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31297-FB89-4691-9D52-3ACCC970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66A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66A2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C63B9-9ADB-4314-A702-732552E3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19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BGR → Gray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AC292-E235-4F34-BF87-FB85B9C4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241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색상보다 밝기 변화에 집중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54E78-FFD9-4293-99F5-B13B2D85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66900"/>
            <a:ext cx="2647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486DE-61C3-4FFA-9072-B51610CC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66A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66A2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9C595-DC9C-4AF6-8236-CB376CCA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19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GaussianBlur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8589C5-B10C-4955-94D8-24F02F53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241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센서 노이즈와 작은 흔들림 완화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F0069-9F17-4CBE-A2CE-8BC0BD45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66900"/>
            <a:ext cx="2647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A4ECAA-6624-4299-B6AF-9E1C5B26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383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66A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66A2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9F50BD-90F2-40C2-BAA5-5E8B05BB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19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absdiff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43468C-6F30-4BDF-9C48-4A16D3C3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241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이전 프레임과 현재 프레임 차이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FE9AF8-FE62-4F9C-9F2A-8AA72B4F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2647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1F39B2-0396-4CB8-8907-B4AB1A38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66A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66A2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3187F3-6A9C-40FD-9434-F1B72F91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24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threshold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B19A89-F67E-4F5F-8A67-7DC86F83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290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큰 변화만 흰색 mask로 변환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474369-F237-485B-A6D0-6362F4C5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71850"/>
            <a:ext cx="2647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E8EA8D-72CB-4A45-B674-B5999E97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66A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66A2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A3D801-F3BF-45EF-9261-BE7EBA9A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24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dilate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E2D091-B076-4BF0-AA84-BD3E9B30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290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분리된 움직임 조각을 연결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0EB4CA-B581-4372-8814-50F2F13D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71850"/>
            <a:ext cx="2647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413708-8176-483C-B521-1BEB3576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66A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66A2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FB27FE-BBB5-4CBC-A415-B585D3DA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24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countNonZero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EFA534-08AE-48FE-AEF6-51DAA3FC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290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움직임 픽셀 비율 계산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90CC59-0BDE-4B43-BFEE-129E6D28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24450"/>
            <a:ext cx="838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E664AE-5A26-40F1-881C-168A24D5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2445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7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09B09C-6C33-4067-BFFD-BC075BEB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95900"/>
            <a:ext cx="803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67A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67AC"/>
                </a:solidFill>
                <a:latin typeface="Aptos"/>
                <a:ea typeface="Aptos"/>
                <a:cs typeface="Aptos"/>
              </a:rPr>
              <a:t>반환값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6DF617-9C77-4440-B679-6E9BAA71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600700"/>
            <a:ext cx="803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motionRatio = 움직인 픽셀 수 / 전체 픽셀 수. 이 값이 threshold보다 크면 알람 상태로 표시합니다.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B6090C-DBC2-4D87-83C6-1E21700B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648779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23FD68-9A7F-46B2-AC7D-99401A27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384823F-8251-4A47-80E4-1F5E9091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F708943-CFAB-4F7B-B1E7-B4A4EA0D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6A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66A2B"/>
                </a:solidFill>
                <a:latin typeface="Aptos"/>
                <a:ea typeface="Aptos"/>
                <a:cs typeface="Aptos"/>
              </a:rPr>
              <a:t>OVERLAY AND CONTOURS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D98FD-92B2-49CE-9F58-F63A8D96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drawMotionOverlay는 mask를 사람이 볼 수 있는 알림으로 바꿉니다.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EAAF9-6D5A-4442-B6E6-22ABF350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42A39-DA3D-4EB3-8800-993FA410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810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344250"/>
            </a:solidFill>
            <a:prstDash val="solid"/>
          </a:ln>
        </p:spPr>
        <p:txBody>
          <a:bodyPr xmlns:a="http://schemas.openxmlformats.org/drawingml/2006/main" lIns="133350" tIns="95250" rIns="133350" bIns="952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redOverlay.copyTo(frame, motionMask);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alert = motionRatio &gt;= threshold;</a:t>
            </a:r>
          </a:p>
          <a:p xmlns:a="http://schemas.openxmlformats.org/drawingml/2006/main">
            <a:pPr algn="l">
              <a:defRPr sz="120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state = alert ? "MOTION DETECTED" : "Monitoring";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findContours(motionMask.clone(), contours, ...);</a:t>
            </a:r>
          </a:p>
          <a:p xmlns:a="http://schemas.openxmlformats.org/drawingml/2006/main">
            <a:pPr algn="l">
              <a:defRPr sz="120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if (contourArea(contour) &gt;= 900)</a:t>
            </a:r>
          </a:p>
          <a:p xmlns:a="http://schemas.openxmlformats.org/drawingml/2006/main">
            <a:pPr algn="l">
              <a:defRPr sz="120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rectangle(frame, boundingRect(contour), color, 2);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5E8AA-B8FE-4994-86C8-0DBE2C3F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29718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3574B-37F7-4A12-8A40-D60263DE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81250"/>
            <a:ext cx="1000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2E2A">
              <a:alpha val="53333"/>
            </a:srgbClr>
          </a:solidFill>
          <a:ln xmlns:a="http://schemas.openxmlformats.org/drawingml/2006/main" w="28575">
            <a:solidFill>
              <a:srgbClr val="B83A3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7A1BF-A60E-47FE-BBCB-D871C7BB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8130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2E2A">
              <a:alpha val="53333"/>
            </a:srgbClr>
          </a:solidFill>
          <a:ln xmlns:a="http://schemas.openxmlformats.org/drawingml/2006/main" w="28575">
            <a:solidFill>
              <a:srgbClr val="B83A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19024B-7CD0-406C-8AAF-5DD90105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719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motionMask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EDB6B-0B0D-471E-9C86-0EE7B9C6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719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bounding boxes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B46B8-718C-451C-8B76-446104B2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05400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C3699-4CDD-4A32-BC29-BD83BC7F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054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F3855-A88E-4D1A-84D0-08D0D02B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76850"/>
            <a:ext cx="851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66A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66A2B"/>
                </a:solidFill>
                <a:latin typeface="Aptos"/>
                <a:ea typeface="Aptos"/>
                <a:cs typeface="Aptos"/>
              </a:rPr>
              <a:t>디버깅 지점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E1205-F6EF-411B-AB31-141CAC8A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581650"/>
            <a:ext cx="8515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contourArea 기준 900은 작은 노이즈를 버리는 필터입니다. 너무 민감하면 값을 올리고, 작은 움직임을 잡으려면 낮춥니다.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00F961-8CF5-467E-9E0B-7225F4DC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8239093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06694D-C953-4EC2-A253-D8532C52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EB35A9B-631F-430E-B100-DD783D31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712EE51-6706-4D92-B11F-45E93A60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6A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66A2B"/>
                </a:solidFill>
                <a:latin typeface="Aptos"/>
                <a:ea typeface="Aptos"/>
                <a:cs typeface="Aptos"/>
              </a:rPr>
              <a:t>CAMERA OPENING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4DF88-2B6E-40E2-8A23-64E89840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openCamera는 Windows 카메라 백엔드를 순차적으로 시도합니다.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417A5-8C13-47DE-9C64-AD9290F2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D5ED6-A036-4080-BA09-4B74A2FA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1531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344250"/>
            </a:solidFill>
            <a:prstDash val="solid"/>
          </a:ln>
        </p:spPr>
        <p:txBody>
          <a:bodyPr xmlns:a="http://schemas.openxmlformats.org/drawingml/2006/main" lIns="133350" tIns="95250" rIns="133350" bIns="952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for (const auto&amp; backend : kCameraBackends) {</a:t>
            </a:r>
          </a:p>
          <a:p xmlns:a="http://schemas.openxmlformats.org/drawingml/2006/main">
            <a:pPr algn="l">
              <a:defRPr sz="1125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camera.open(config.cameraIndex, backend.api);</a:t>
            </a:r>
          </a:p>
          <a:p xmlns:a="http://schemas.openxmlformats.org/drawingml/2006/main">
            <a:pPr algn="l">
              <a:defRPr sz="1125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if (!camera.isOpened()) {</a:t>
            </a:r>
          </a:p>
          <a:p xmlns:a="http://schemas.openxmlformats.org/drawingml/2006/main">
            <a:pPr algn="l">
              <a:defRPr sz="1125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    camera.release();</a:t>
            </a:r>
          </a:p>
          <a:p xmlns:a="http://schemas.openxmlformats.org/drawingml/2006/main">
            <a:pPr algn="l">
              <a:defRPr sz="1125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    continue;</a:t>
            </a:r>
          </a:p>
          <a:p xmlns:a="http://schemas.openxmlformats.org/drawingml/2006/main">
            <a:pPr algn="l">
              <a:defRPr sz="1125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camera.set(CAP_PROP_FRAME_WIDTH, config.width);</a:t>
            </a:r>
          </a:p>
          <a:p xmlns:a="http://schemas.openxmlformats.org/drawingml/2006/main">
            <a:pPr algn="l">
              <a:defRPr sz="1125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camera.set(CAP_PROP_FRAME_HEIGHT, config.height);</a:t>
            </a:r>
          </a:p>
          <a:p xmlns:a="http://schemas.openxmlformats.org/drawingml/2006/main">
            <a:pPr algn="l">
              <a:defRPr sz="1125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camera.set(CAP_PROP_FPS, 30);</a:t>
            </a:r>
          </a:p>
          <a:p xmlns:a="http://schemas.openxmlformats.org/drawingml/2006/main">
            <a:pPr algn="l">
              <a:defRPr sz="1125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camera.set(CAP_PROP_FOURCC, fourcc('M','J','P','G'));</a:t>
            </a:r>
          </a:p>
          <a:p xmlns:a="http://schemas.openxmlformats.org/drawingml/2006/main">
            <a:pPr algn="l">
              <a:defRPr sz="1125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backendName = backend.name;</a:t>
            </a:r>
          </a:p>
          <a:p xmlns:a="http://schemas.openxmlformats.org/drawingml/2006/main">
            <a:pPr algn="l">
              <a:defRPr sz="1125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return true;</a:t>
            </a:r>
          </a:p>
          <a:p xmlns:a="http://schemas.openxmlformats.org/drawingml/2006/main">
            <a:pPr algn="l">
              <a:defRPr sz="1125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06DC0-177E-4FB1-8B6B-D69AF197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3360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DF5D0-D4CC-49FF-B29D-FA5B57F5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955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DirectShow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EE6E0-B292-42E1-8828-7FE99AF1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4800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582E9-A54E-4770-9AAD-A2F008ED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099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Media Foundation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F3AA4-BED9-4CD2-9AFE-4B69C024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6240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7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7FC2B-A2B1-4FBE-A71F-8F50D680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243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03C0E-2692-43A9-834A-16A0AFD8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29200"/>
            <a:ext cx="323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성공하면 즉시 return true</a:t>
            </a:r>
          </a:p>
          <a:p xmlns:a="http://schemas.openxmlformats.org/drawingml/2006/main">
            <a:pPr algn="ctr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실패하면 다음 백엔드로 fallback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5E4197-4CBD-426D-9111-601C197D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030688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630217-12F5-47EA-BD6B-CAC74C74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880A8A1-9B46-464B-993D-6A58243D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CA80951-C234-4A1B-AA92-4150BAE9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6A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66A2B"/>
                </a:solidFill>
                <a:latin typeface="Aptos"/>
                <a:ea typeface="Aptos"/>
                <a:cs typeface="Aptos"/>
              </a:rPr>
              <a:t>MAIN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0A3F6-2FCC-4194-8C83-92F1330E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main은 초기화 후 프레임을 읽고 처리하고 표시하는 반복문입니다.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F2310-984D-4432-97B6-7FEF48CD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20D3C-B4A5-4FB0-BE08-76BC17C3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533400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344250"/>
            </a:solidFill>
            <a:prstDash val="solid"/>
          </a:ln>
        </p:spPr>
        <p:txBody>
          <a:bodyPr xmlns:a="http://schemas.openxmlformats.org/drawingml/2006/main" lIns="133350" tIns="95250" rIns="133350" bIns="952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while (true) {</a:t>
            </a:r>
          </a:p>
          <a:p xmlns:a="http://schemas.openxmlformats.org/drawingml/2006/main">
            <a:pPr algn="l">
              <a:defRPr sz="120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if (!camera.read(frame) || frame.empty()) { ...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update fps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if (motionEnabled) {</a:t>
            </a:r>
          </a:p>
          <a:p xmlns:a="http://schemas.openxmlformats.org/drawingml/2006/main">
            <a:pPr algn="l">
              <a:defRPr sz="120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    motionRatio = updateMotionMask(...);</a:t>
            </a:r>
          </a:p>
          <a:p xmlns:a="http://schemas.openxmlformats.org/drawingml/2006/main">
            <a:pPr algn="l">
              <a:defRPr sz="120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    drawMotionOverlay(...);</a:t>
            </a:r>
          </a:p>
          <a:p xmlns:a="http://schemas.openxmlformats.org/drawingml/2006/main">
            <a:pPr algn="l">
              <a:defRPr sz="120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drawLabel(...status...);</a:t>
            </a:r>
          </a:p>
          <a:p xmlns:a="http://schemas.openxmlformats.org/drawingml/2006/main">
            <a:pPr algn="l">
              <a:defRPr sz="120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imshow(windowName, frame);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key = waitKey(1);</a:t>
            </a:r>
          </a:p>
          <a:p xmlns:a="http://schemas.openxmlformats.org/drawingml/2006/main">
            <a:pPr algn="l">
              <a:defRPr sz="120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q / ESC → break</a:t>
            </a:r>
          </a:p>
          <a:p xmlns:a="http://schemas.openxmlformats.org/drawingml/2006/main">
            <a:pPr algn="l">
              <a:defRPr sz="120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m → motion toggle</a:t>
            </a:r>
          </a:p>
          <a:p xmlns:a="http://schemas.openxmlformats.org/drawingml/2006/main">
            <a:pPr algn="l">
              <a:defRPr sz="120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    s → imwrite("capture.png", frame)</a:t>
            </a:r>
          </a:p>
          <a:p xmlns:a="http://schemas.openxmlformats.org/drawingml/2006/main">
            <a:pPr algn="l">
              <a:defRPr sz="1200" b="0">
                <a:solidFill>
                  <a:srgbClr val="EAF2F1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AF2F1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CE512-0408-4F81-931E-3BC01D3C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81200"/>
            <a:ext cx="3829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0E12F-575F-4787-BE92-DBE80221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812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3A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AE75E-AD82-43AF-9868-414394A4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52650"/>
            <a:ext cx="3486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3A3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83A30"/>
                </a:solidFill>
                <a:latin typeface="Aptos"/>
                <a:ea typeface="Aptos"/>
                <a:cs typeface="Aptos"/>
              </a:rPr>
              <a:t>프레임 실패 처리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26FB8-0E52-47D8-904B-2D6105E7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57450"/>
            <a:ext cx="3486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첫 프레임을 5초 동안 못 받으면 카메라 권한, 다른 앱 점유, 인덱스 문제를 의심합니다.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7088FF-2478-4473-A058-6128201D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3829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FA766-3607-4868-9819-E04EE4DA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791C2-D34D-4797-984F-4CB6BCF7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24250"/>
            <a:ext cx="3486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7F7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B7F79"/>
                </a:solidFill>
                <a:latin typeface="Aptos"/>
                <a:ea typeface="Aptos"/>
                <a:cs typeface="Aptos"/>
              </a:rPr>
              <a:t>상태 변수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FF55C9-EA4E-4475-A16B-407D9F59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29050"/>
            <a:ext cx="3486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motionEnabled, previousGray, frameCount, failedReads는 루프가 진행되며 계속 갱신되는 상태입니다.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FB41AF-3062-47C3-B7E3-290DDD5A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24400"/>
            <a:ext cx="382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3A83B-1963-4483-9ACA-AE7B457C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244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AF772-6D73-4AE8-BFC0-8C02D31E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95850"/>
            <a:ext cx="3486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66A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66A2B"/>
                </a:solidFill>
                <a:latin typeface="Aptos"/>
                <a:ea typeface="Aptos"/>
                <a:cs typeface="Aptos"/>
              </a:rPr>
              <a:t>키 입력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42937B-BA03-4620-AF4F-1908A0BD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200650"/>
            <a:ext cx="3486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waitKey(1)은 창 이벤트 처리와 키 입력 확인을 동시에 수행합니다.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1815B7-5957-4968-94EC-B8F625AC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9006330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006A71-0792-41EA-BBBB-A585A17C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B455C2E-6BA8-4F1B-986A-532B4A07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CFB9AFF-EF26-4A93-806A-A5589D53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6A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66A2B"/>
                </a:solidFill>
                <a:latin typeface="Aptos"/>
                <a:ea typeface="Aptos"/>
                <a:cs typeface="Aptos"/>
              </a:rPr>
              <a:t>PRACTICE CHECKLIST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59D61-43CF-4263-AC96-A85E1B76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디버깅은 실행 환경, 카메라, 프레임, 알고리즘 순서로 좁혀갑니다.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5E858-14ED-4661-86D2-61FD909F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371CC-C9FF-4304-B939-E4DC7E07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69561-8FA2-4D89-B629-BEF109CD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47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60B8D-719E-457E-B5FB-E95E2723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6690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B6472"/>
                </a:solidFill>
                <a:latin typeface="Consolas"/>
                <a:ea typeface="Consolas"/>
                <a:cs typeface="Consolas"/>
              </a:rPr>
              <a:t>cmake --build --preset release-vcpkg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0B8D73-4437-4A3E-B503-14C7EF2E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50466-2769-4459-A28F-4452EF88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376A9C-4FD4-4098-8642-2C2D10F6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33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DLL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17811-8E1B-44A5-8E39-683904EB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5270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B6472"/>
                </a:solidFill>
                <a:latin typeface="Consolas"/>
                <a:ea typeface="Consolas"/>
                <a:cs typeface="Consolas"/>
              </a:rPr>
              <a:t>C:/dev/vcpkg/installed/x64-windows/bin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E49701-C930-40E5-A8DF-853B894C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409EC1-258F-4609-83E6-9A9DC165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50F1F-A962-406B-9D86-B066D6D7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194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Camera index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61E430-D857-4237-9799-AF1FF942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3850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B6472"/>
                </a:solidFill>
                <a:latin typeface="Consolas"/>
                <a:ea typeface="Consolas"/>
                <a:cs typeface="Consolas"/>
              </a:rPr>
              <a:t>camera_win.exe 0 또는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348C18-DA4F-4FDC-9A55-3AF1FC6D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38DA70-9208-4E9A-8407-8BBCDD64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829ACE-A0B2-442E-981B-04F1BE4F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First frame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EFF3CA-471B-447D-A31D-483DB8BA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2430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B6472"/>
                </a:solidFill>
                <a:latin typeface="Consolas"/>
                <a:ea typeface="Consolas"/>
                <a:cs typeface="Consolas"/>
              </a:rPr>
              <a:t>cols, rows, type, mean 출력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19A430-F5B3-4713-924A-29ADA3F7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C7D210-D8E9-4840-94B9-CB81F32F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A1B81E-98FC-474B-A20B-6E8783E3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91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Motion tuning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7E16B3-55D1-461C-AC7D-DCAADBBA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1010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B6472"/>
                </a:solidFill>
                <a:latin typeface="Consolas"/>
                <a:ea typeface="Consolas"/>
                <a:cs typeface="Consolas"/>
              </a:rPr>
              <a:t>motionThreshold / contourArea 조정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6ED24F-88D1-45EB-8EBF-24515F5D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E32946-79D3-4BFD-9B6B-B204D1B0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14950"/>
            <a:ext cx="8648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A0DF46-F85D-4EFB-876A-0FA25ACB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1495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7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C78FC2-1D65-43E8-81C0-1C32D45B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86400"/>
            <a:ext cx="830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67A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67AC"/>
                </a:solidFill>
                <a:latin typeface="Aptos"/>
                <a:ea typeface="Aptos"/>
                <a:cs typeface="Aptos"/>
              </a:rPr>
              <a:t>수업 활용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AEBF6B-3569-4021-B730-7D7FA950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91200"/>
            <a:ext cx="8305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각 함수에 breakpoint를 걸고 입력 Mat, 출력 mask, motionRatio, backendName을 Watch 창에서 확인하면 OpenCV 프로그램의 실행 감각이 빨리 잡힙니다.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C7D574-2BFF-4004-A262-38F5D121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770680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2026-05-20T22:17:42.0200000Z</dcterms:created>
  <dcterms:modified xsi:type="dcterms:W3CDTF">2026-05-20T22:17:42.0200000Z</dcterms:modified>
</coreProperties>
</file>